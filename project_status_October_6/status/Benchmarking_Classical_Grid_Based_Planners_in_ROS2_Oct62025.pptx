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7" r:id="rId8"/>
    <p:sldId id="268" r:id="rId9"/>
    <p:sldId id="261" r:id="rId10"/>
    <p:sldId id="269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161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826F7-4F71-C706-22B5-8A4B6E56A9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C46DB0-78FE-F302-74B1-A189C45B5E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EAA93-4E96-10CE-9B60-BFB0F7745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24B06-B76D-3572-968C-117769BB3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7EE24-892E-C0EC-FAD2-279A49EC3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155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8C3A-790C-1228-44EE-D65FFE7D1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6B25B-E120-5323-8276-8BB79C4B3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C7C56-76A1-4EB7-2A79-729A0A373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586C3-7922-6C09-764F-C3D0F36D4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3FBB93-B8F1-93FB-28E3-430C636C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5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E091D-34D5-35DA-C292-5FC7680E5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BC82EC-4EB3-ADAE-F2E5-136167CE0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92631-2D98-6D37-155B-F7BF6AE82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4E258-5561-6136-C152-D2B7180CD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CAD340-D2FA-4F87-382F-209782E57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25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3817-338A-A4E0-A259-5B3E85CF4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4D16C-F04D-6051-75F9-0C891C0FEB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B8797-D3F2-F94A-4048-A9D5F3904E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E24BA4-4012-74B1-82A2-8281CE094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D2894E-8D81-5621-A2D5-CD1B929DE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6943C-316D-0BCF-8942-B35502B6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650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4DC27-F064-0E26-09E3-C03A0A47B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3DBB4-EAA4-79FA-C072-32357B944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6ACD12-49D2-BCF1-4253-E65381B62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F2CE55-F64C-4D42-CF78-BEB7E3D2B7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712A2C-5496-A8B8-5A30-E86377FC90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079D41-4310-4AC2-BCF6-F34DC4E7F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F2D52B-6390-B4DE-3B45-255FBF229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BF8856-AB35-DFCB-5060-CFA0B686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15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CF582-46E3-565B-962C-5CE80D79D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E36943-F024-31BC-4BFF-58219911C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F9A2F2-0F27-7589-C07C-16FB03BA6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DED9F-9223-1A06-DE00-5B6040E37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9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0D57B3-5E6A-E155-0F58-B20282BC1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F1103B-A28F-FFE3-7371-61BA73E02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77F8-DE28-4F8A-E5C3-D5B851E2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61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EC49-F673-74BE-82B1-814E667FA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F3672-51AF-7E87-0D9B-7E65F95F3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A17B3-9AEB-AE3F-8C44-AC63EE7B9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B9A40E-06D4-A721-C403-36647CDA6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263CD-AE90-5B0D-EA4C-686E7B73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399E85-5B48-586A-CDBB-B331740C6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7396F-B1FD-A0B8-53BA-7DF89D0EF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B5DC9-AF1D-D4B5-50D9-44B9965CC3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0B6A8-1334-BDC5-A169-AE68DA80C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EA80A-BEAC-B4C1-4AB0-D05A09E57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52D28F-ED39-747F-95A6-BC60E819A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93C06-62BC-AFCE-9CC5-4E6EB92E6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1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CAA54-9D90-06CA-15BE-6332B3A6A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7514B2-86EF-69EB-817F-BBAC7CE00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4C9E67-0602-3A6F-AF61-268F7C256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AB5DA8-C5F5-4B67-DEEB-C1405AD56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53DE9-C121-F79B-6D95-7563C6CA6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143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E7097-C435-FC57-DAA5-8252D5A698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5DEEB-4EC8-F7D5-A44E-032E87BEA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D33DC-41BC-6688-88F5-A1DFA7AB8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2FB2D-8F3F-83E8-864E-802BCE8D6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F012F-C8B1-E3AC-691A-50BDF6256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83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EBE155-96E9-A28A-A3DC-5C6C1FE66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812E9E-5EBC-A86D-596B-B3916E008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B6576-CFEE-86EE-82EE-86889079C9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D6928D-7ECD-4492-84D7-1BA2C5906DE3}" type="datetimeFigureOut">
              <a:rPr lang="en-US" smtClean="0"/>
              <a:t>10/5/2025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8A380-51C6-E050-F6D1-B40C79934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E732C-E692-6106-9873-0D710AB22D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8D421-ED7A-4016-A65A-90CA1F2431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8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15F9-FED6-83D2-6D1F-80EEBF2F62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Benchmarking Classical Grid-Based Planners in ROS 2</a:t>
            </a:r>
            <a:endParaRPr lang="en-US"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17896E8-9A68-4934-833D-7F492156ED5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3999" y="3433906"/>
            <a:ext cx="1014046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Mohamed Eljahmi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Course: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RBE 550 – Motion Planning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Professor: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 Flickinger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October 7, 2025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Audio 5">
            <a:hlinkClick r:id="" action="ppaction://media"/>
            <a:extLst>
              <a:ext uri="{FF2B5EF4-FFF2-40B4-BE49-F238E27FC236}">
                <a16:creationId xmlns:a16="http://schemas.microsoft.com/office/drawing/2014/main" id="{1C7CAEC5-427C-5F98-7C7A-364A249B284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7253139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590"/>
    </mc:Choice>
    <mc:Fallback>
      <p:transition spd="slow" advTm="3359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94212-E303-87CD-AA18-6164F450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0428DFC-389E-B4F2-65CF-79C89AF6B6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86708" y="2327345"/>
            <a:ext cx="9267091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Motion planning algorithms trade off between speed, optimality, and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Benchmarking these planners fairly is difficult without consistent environments.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creates an automated, reproducible ROS 2 benchmarking framework.</a:t>
            </a:r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633927F9-1A36-9D2A-4A22-985360A5F5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788824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257"/>
    </mc:Choice>
    <mc:Fallback>
      <p:transition spd="slow" advTm="1725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DD104-1390-6804-823E-AA8055345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1F4962C-7738-EE1B-30A9-785A1B8631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4796" y="2031258"/>
            <a:ext cx="11554466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Implement multiple search algorithms: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BFS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Greedy Best-First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Generate both random and structured (maze) environments.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Record metrics: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path length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runtime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nodes expanded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Package the system using Docker for full reproducibility.</a:t>
            </a:r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0C6F26B8-450B-71BB-859D-252E97F596A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3017634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464"/>
    </mc:Choice>
    <mc:Fallback>
      <p:transition spd="slow" advTm="164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B4BF0-06B4-8AB1-8730-DD924A173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2352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pic>
        <p:nvPicPr>
          <p:cNvPr id="4" name="Content Placeholder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94650A3-C823-9456-6AF9-AC2D6D79CE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4432" y="1301263"/>
            <a:ext cx="11218983" cy="5191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01075087-DADA-DDE7-90E7-EE54C590855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1574228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734"/>
    </mc:Choice>
    <mc:Fallback>
      <p:transition spd="slow" advTm="3273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BBA61-7C14-48A4-5666-029739140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81354"/>
            <a:ext cx="10515600" cy="69166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Structure (Algorithms)</a:t>
            </a:r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DE5C7060-65C5-4776-055E-178CC1599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5814" y="1348154"/>
            <a:ext cx="11420371" cy="52284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Audio 3">
            <a:hlinkClick r:id="" action="ppaction://media"/>
            <a:extLst>
              <a:ext uri="{FF2B5EF4-FFF2-40B4-BE49-F238E27FC236}">
                <a16:creationId xmlns:a16="http://schemas.microsoft.com/office/drawing/2014/main" id="{85A56752-E674-9720-44A1-1B5F055E960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9080515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456"/>
    </mc:Choice>
    <mc:Fallback>
      <p:transition spd="slow" advTm="2345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AA389-3A4B-99E1-D7AC-521DA7E8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023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Structure (Core &amp; Environment)</a:t>
            </a:r>
          </a:p>
        </p:txBody>
      </p:sp>
      <p:pic>
        <p:nvPicPr>
          <p:cNvPr id="6" name="Content Placeholder 5" descr="A diagram of a program&#10;&#10;AI-generated content may be incorrect.">
            <a:extLst>
              <a:ext uri="{FF2B5EF4-FFF2-40B4-BE49-F238E27FC236}">
                <a16:creationId xmlns:a16="http://schemas.microsoft.com/office/drawing/2014/main" id="{B94662E9-66E0-777E-3EA6-641F288531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24000" y="1053368"/>
            <a:ext cx="9466386" cy="54395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Audio 3">
            <a:hlinkClick r:id="" action="ppaction://media"/>
            <a:extLst>
              <a:ext uri="{FF2B5EF4-FFF2-40B4-BE49-F238E27FC236}">
                <a16:creationId xmlns:a16="http://schemas.microsoft.com/office/drawing/2014/main" id="{3020170D-6D2A-98E4-3D19-EC85F159638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8606180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600"/>
    </mc:Choice>
    <mc:Fallback>
      <p:transition spd="slow" advTm="206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6B63-426F-0E77-2AA5-A7AA10F17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Sequence Diagram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7CB2C18-4158-6788-FC3C-828C25C201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1" y="1907714"/>
            <a:ext cx="11699538" cy="4658586"/>
          </a:xfrm>
        </p:spPr>
      </p:pic>
      <p:pic>
        <p:nvPicPr>
          <p:cNvPr id="4" name="Audio 3">
            <a:hlinkClick r:id="" action="ppaction://media"/>
            <a:extLst>
              <a:ext uri="{FF2B5EF4-FFF2-40B4-BE49-F238E27FC236}">
                <a16:creationId xmlns:a16="http://schemas.microsoft.com/office/drawing/2014/main" id="{CBAA817A-1C32-EB6D-FBBF-1B8220AEE4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9913781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158"/>
    </mc:Choice>
    <mc:Fallback>
      <p:transition spd="slow" advTm="2315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140FB-F395-9A87-035E-801FCE2B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Packaging &amp; Reproducibility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FECFB-AA97-9C6D-981E-86A5457B5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Entire benchmark is containerized for consistent runs across machines.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command builds and executes all experiments.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image rbe550-bench includes:</a:t>
            </a:r>
          </a:p>
          <a:p>
            <a:pPr lvl="1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ROS 2 Humble base</a:t>
            </a:r>
          </a:p>
          <a:p>
            <a:pPr lvl="1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Workspace source (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/) and maps (maps/)</a:t>
            </a:r>
          </a:p>
          <a:p>
            <a:pPr lvl="1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build and execution via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entrypoint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are automatically stored in outputs/.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Guarantees deterministic and fully reproducible benchmarking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1A15E377-ED99-68DC-3AFD-DD67AD34D1C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9930373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964"/>
    </mc:Choice>
    <mc:Fallback>
      <p:transition spd="slow" advTm="239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1D98-5088-083C-1420-BA4DB6052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92508" cy="67822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Preliminary Results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68F74B-90E0-5644-74B3-72833B5262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7107582"/>
              </p:ext>
            </p:extLst>
          </p:nvPr>
        </p:nvGraphicFramePr>
        <p:xfrm>
          <a:off x="3444752" y="1582616"/>
          <a:ext cx="4937250" cy="242667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875">
                  <a:extLst>
                    <a:ext uri="{9D8B030D-6E8A-4147-A177-3AD203B41FA5}">
                      <a16:colId xmlns:a16="http://schemas.microsoft.com/office/drawing/2014/main" val="580008015"/>
                    </a:ext>
                  </a:extLst>
                </a:gridCol>
                <a:gridCol w="822875">
                  <a:extLst>
                    <a:ext uri="{9D8B030D-6E8A-4147-A177-3AD203B41FA5}">
                      <a16:colId xmlns:a16="http://schemas.microsoft.com/office/drawing/2014/main" val="1205673763"/>
                    </a:ext>
                  </a:extLst>
                </a:gridCol>
                <a:gridCol w="822875">
                  <a:extLst>
                    <a:ext uri="{9D8B030D-6E8A-4147-A177-3AD203B41FA5}">
                      <a16:colId xmlns:a16="http://schemas.microsoft.com/office/drawing/2014/main" val="1710442503"/>
                    </a:ext>
                  </a:extLst>
                </a:gridCol>
                <a:gridCol w="822875">
                  <a:extLst>
                    <a:ext uri="{9D8B030D-6E8A-4147-A177-3AD203B41FA5}">
                      <a16:colId xmlns:a16="http://schemas.microsoft.com/office/drawing/2014/main" val="622998821"/>
                    </a:ext>
                  </a:extLst>
                </a:gridCol>
                <a:gridCol w="822875">
                  <a:extLst>
                    <a:ext uri="{9D8B030D-6E8A-4147-A177-3AD203B41FA5}">
                      <a16:colId xmlns:a16="http://schemas.microsoft.com/office/drawing/2014/main" val="1027228998"/>
                    </a:ext>
                  </a:extLst>
                </a:gridCol>
                <a:gridCol w="822875">
                  <a:extLst>
                    <a:ext uri="{9D8B030D-6E8A-4147-A177-3AD203B41FA5}">
                      <a16:colId xmlns:a16="http://schemas.microsoft.com/office/drawing/2014/main" val="292931885"/>
                    </a:ext>
                  </a:extLst>
                </a:gridCol>
              </a:tblGrid>
              <a:tr h="606669"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Algorithm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Connectivity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Heuristic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Path Length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Nodes Expanded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Runtime (ms)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05562384"/>
                  </a:ext>
                </a:extLst>
              </a:tr>
              <a:tr h="606669"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BFS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4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-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64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2155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2.39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39730162"/>
                  </a:ext>
                </a:extLst>
              </a:tr>
              <a:tr h="606669"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A*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4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Manhattan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64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910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1.93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7131713"/>
                  </a:ext>
                </a:extLst>
              </a:tr>
              <a:tr h="606669"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A*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8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Euclidean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45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455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algn="ctr">
                        <a:buNone/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</a:rPr>
                        <a:t>1.81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5962901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3836A05-5CAB-8590-AECF-86A013276755}"/>
              </a:ext>
            </a:extLst>
          </p:cNvPr>
          <p:cNvSpPr txBox="1"/>
          <p:nvPr/>
        </p:nvSpPr>
        <p:spPr>
          <a:xfrm>
            <a:off x="2778369" y="4548554"/>
            <a:ext cx="7033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A* expands fewer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Heuristics reduce exploration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8-connected + Euclidean shortens path</a:t>
            </a:r>
          </a:p>
        </p:txBody>
      </p:sp>
      <p:pic>
        <p:nvPicPr>
          <p:cNvPr id="6" name="Audio 5">
            <a:hlinkClick r:id="" action="ppaction://media"/>
            <a:extLst>
              <a:ext uri="{FF2B5EF4-FFF2-40B4-BE49-F238E27FC236}">
                <a16:creationId xmlns:a16="http://schemas.microsoft.com/office/drawing/2014/main" id="{AC1FACEE-DA3F-3F56-26A9-6A3FC1B65D4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317956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868"/>
    </mc:Choice>
    <mc:Fallback>
      <p:transition spd="slow" advTm="3486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6488E-CF82-4C6B-21E6-E3B015CB7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DB62C24-8AC6-A6AE-ACF6-2A83D5DA96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2151727"/>
            <a:ext cx="10779369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Deterministic seeding for reproducible random maps.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Maze and random environments tested repeatedly.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Results are identical across different systems using Docker.</a:t>
            </a:r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7D3466B0-5188-8453-B811-9146C51E647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77360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975"/>
    </mc:Choice>
    <mc:Fallback>
      <p:transition spd="slow" advTm="209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7AC87-3A78-F90C-BDCE-BDBB72F36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133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Next Steps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2FE503-33B9-ED67-DF61-291AF2F039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248129" y="1343442"/>
            <a:ext cx="8654334" cy="5039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COLCON_TRACE build issue.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Ensuring maps/ inclusion inside Docker.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Balancing parameters for fair comparisons.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Steps: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weighted heuristics and cost variants.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visualization (RViz / Matplotlib).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to probabilistic planners later in the semester.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57E4E360-5A42-D16B-A638-33707F9132B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517650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7342"/>
    </mc:Choice>
    <mc:Fallback>
      <p:transition spd="slow" advTm="6734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313</Words>
  <Application>Microsoft Office PowerPoint</Application>
  <PresentationFormat>Widescreen</PresentationFormat>
  <Paragraphs>72</Paragraphs>
  <Slides>11</Slides>
  <Notes>0</Notes>
  <HiddenSlides>0</HiddenSlides>
  <MMClips>11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Benchmarking Classical Grid-Based Planners in ROS 2</vt:lpstr>
      <vt:lpstr>Motivation</vt:lpstr>
      <vt:lpstr>Objectives</vt:lpstr>
      <vt:lpstr>System Architecture</vt:lpstr>
      <vt:lpstr>Class Structure (Algorithms)</vt:lpstr>
      <vt:lpstr>Class Structure (Core &amp; Environment)</vt:lpstr>
      <vt:lpstr> Sequence Diagram</vt:lpstr>
      <vt:lpstr>Packaging &amp; Reproducibility</vt:lpstr>
      <vt:lpstr>Preliminary Results</vt:lpstr>
      <vt:lpstr>Validation</vt:lpstr>
      <vt:lpstr>Challenges &amp;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Eljahmi</dc:creator>
  <cp:lastModifiedBy>Mohamed Eljahmi</cp:lastModifiedBy>
  <cp:revision>59</cp:revision>
  <dcterms:created xsi:type="dcterms:W3CDTF">2025-09-28T14:00:47Z</dcterms:created>
  <dcterms:modified xsi:type="dcterms:W3CDTF">2025-10-05T07:02:36Z</dcterms:modified>
</cp:coreProperties>
</file>